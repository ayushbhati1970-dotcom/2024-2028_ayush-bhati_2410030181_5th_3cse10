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dirty="0"/>
              <a:t>Python</a:t>
            </a:r>
            <a:r>
              <a:rPr spc="-10" dirty="0"/>
              <a:t> Programming </a:t>
            </a:r>
            <a:r>
              <a:rPr dirty="0"/>
              <a:t>|</a:t>
            </a:r>
            <a:r>
              <a:rPr spc="-5" dirty="0"/>
              <a:t> </a:t>
            </a:r>
            <a:r>
              <a:rPr dirty="0"/>
              <a:t>Daksh </a:t>
            </a:r>
            <a:r>
              <a:rPr spc="-20" dirty="0"/>
              <a:t>Bhati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dirty="0"/>
              <a:t>Python</a:t>
            </a:r>
            <a:r>
              <a:rPr spc="-10" dirty="0"/>
              <a:t> Programming </a:t>
            </a:r>
            <a:r>
              <a:rPr dirty="0"/>
              <a:t>|</a:t>
            </a:r>
            <a:r>
              <a:rPr spc="-5" dirty="0"/>
              <a:t> </a:t>
            </a:r>
            <a:r>
              <a:rPr dirty="0"/>
              <a:t>Daksh </a:t>
            </a:r>
            <a:r>
              <a:rPr spc="-20" dirty="0"/>
              <a:t>Bhati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dirty="0"/>
              <a:t>Python</a:t>
            </a:r>
            <a:r>
              <a:rPr spc="-10" dirty="0"/>
              <a:t> Programming </a:t>
            </a:r>
            <a:r>
              <a:rPr dirty="0"/>
              <a:t>|</a:t>
            </a:r>
            <a:r>
              <a:rPr spc="-5" dirty="0"/>
              <a:t> </a:t>
            </a:r>
            <a:r>
              <a:rPr dirty="0"/>
              <a:t>Daksh </a:t>
            </a:r>
            <a:r>
              <a:rPr spc="-20" dirty="0"/>
              <a:t>Bhati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dirty="0"/>
              <a:t>Python</a:t>
            </a:r>
            <a:r>
              <a:rPr spc="-10" dirty="0"/>
              <a:t> Programming </a:t>
            </a:r>
            <a:r>
              <a:rPr dirty="0"/>
              <a:t>|</a:t>
            </a:r>
            <a:r>
              <a:rPr spc="-5" dirty="0"/>
              <a:t> </a:t>
            </a:r>
            <a:r>
              <a:rPr dirty="0"/>
              <a:t>Daksh </a:t>
            </a:r>
            <a:r>
              <a:rPr spc="-20" dirty="0"/>
              <a:t>Bhati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dirty="0"/>
              <a:t>Python</a:t>
            </a:r>
            <a:r>
              <a:rPr spc="-10" dirty="0"/>
              <a:t> Programming </a:t>
            </a:r>
            <a:r>
              <a:rPr dirty="0"/>
              <a:t>|</a:t>
            </a:r>
            <a:r>
              <a:rPr spc="-5" dirty="0"/>
              <a:t> </a:t>
            </a:r>
            <a:r>
              <a:rPr dirty="0"/>
              <a:t>Daksh </a:t>
            </a:r>
            <a:r>
              <a:rPr spc="-20" dirty="0"/>
              <a:t>Bhati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5576" y="414356"/>
            <a:ext cx="6483984" cy="939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9936" y="1568056"/>
            <a:ext cx="5915025" cy="3394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4136" y="6598784"/>
            <a:ext cx="262826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dirty="0"/>
              <a:t>Python</a:t>
            </a:r>
            <a:r>
              <a:rPr spc="-10" dirty="0"/>
              <a:t> Programming </a:t>
            </a:r>
            <a:r>
              <a:rPr dirty="0"/>
              <a:t>|</a:t>
            </a:r>
            <a:r>
              <a:rPr spc="-5" dirty="0"/>
              <a:t> </a:t>
            </a:r>
            <a:r>
              <a:rPr dirty="0"/>
              <a:t>Daksh </a:t>
            </a:r>
            <a:r>
              <a:rPr spc="-20" dirty="0"/>
              <a:t>Bhati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09336" y="6598784"/>
            <a:ext cx="14732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uvaintern.com/?utm_source=chatgpt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4160520"/>
            <a:ext cx="12188825" cy="2697480"/>
          </a:xfrm>
          <a:custGeom>
            <a:avLst/>
            <a:gdLst/>
            <a:ahLst/>
            <a:cxnLst/>
            <a:rect l="l" t="t" r="r" b="b"/>
            <a:pathLst>
              <a:path w="12188825" h="2697479">
                <a:moveTo>
                  <a:pt x="12188520" y="0"/>
                </a:moveTo>
                <a:lnTo>
                  <a:pt x="0" y="0"/>
                </a:lnTo>
                <a:lnTo>
                  <a:pt x="0" y="2697124"/>
                </a:lnTo>
                <a:lnTo>
                  <a:pt x="6094437" y="2697124"/>
                </a:lnTo>
                <a:lnTo>
                  <a:pt x="12188520" y="2697124"/>
                </a:lnTo>
                <a:lnTo>
                  <a:pt x="12188520" y="0"/>
                </a:lnTo>
                <a:close/>
              </a:path>
            </a:pathLst>
          </a:custGeom>
          <a:solidFill>
            <a:srgbClr val="161F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655"/>
              </a:spcBef>
            </a:pPr>
            <a:r>
              <a:rPr sz="2600" spc="-210" dirty="0"/>
              <a:t>IILM</a:t>
            </a:r>
            <a:r>
              <a:rPr sz="2600" spc="-55" dirty="0"/>
              <a:t> </a:t>
            </a:r>
            <a:r>
              <a:rPr sz="2600" spc="-180" dirty="0"/>
              <a:t>UNIVERSITY</a:t>
            </a:r>
            <a:endParaRPr sz="2600"/>
          </a:p>
          <a:p>
            <a:pPr marL="195580">
              <a:lnSpc>
                <a:spcPct val="100000"/>
              </a:lnSpc>
              <a:spcBef>
                <a:spcPts val="835"/>
              </a:spcBef>
            </a:pP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G</a:t>
            </a:r>
            <a:r>
              <a:rPr sz="1400" b="0" spc="-3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R</a:t>
            </a:r>
            <a:r>
              <a:rPr sz="1400" b="0" spc="-1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E</a:t>
            </a:r>
            <a:r>
              <a:rPr sz="1400" b="0" spc="-3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C9DBFB"/>
                </a:solidFill>
                <a:latin typeface="Calibri"/>
                <a:cs typeface="Calibri"/>
              </a:rPr>
              <a:t>A</a:t>
            </a:r>
            <a:r>
              <a:rPr sz="1400" b="0" spc="-13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T</a:t>
            </a:r>
            <a:r>
              <a:rPr sz="1400" b="0" spc="-2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E</a:t>
            </a:r>
            <a:r>
              <a:rPr sz="1400" b="0" spc="-2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R</a:t>
            </a:r>
            <a:r>
              <a:rPr sz="1400" b="0" spc="130" dirty="0">
                <a:solidFill>
                  <a:srgbClr val="C9DBFB"/>
                </a:solidFill>
                <a:latin typeface="Calibri"/>
                <a:cs typeface="Calibri"/>
              </a:rPr>
              <a:t> 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N</a:t>
            </a:r>
            <a:r>
              <a:rPr sz="1400" b="0" spc="-1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O</a:t>
            </a:r>
            <a:r>
              <a:rPr sz="1400" b="0" spc="-2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I</a:t>
            </a:r>
            <a:r>
              <a:rPr sz="1400" b="0" spc="-1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C9DBFB"/>
                </a:solidFill>
                <a:latin typeface="Calibri"/>
                <a:cs typeface="Calibri"/>
              </a:rPr>
              <a:t>D</a:t>
            </a:r>
            <a:r>
              <a:rPr sz="1400" b="0" spc="-4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400" b="0" spc="-50" dirty="0">
                <a:solidFill>
                  <a:srgbClr val="C9DBFB"/>
                </a:solidFill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8456" y="2097658"/>
            <a:ext cx="5520055" cy="2040943"/>
          </a:xfrm>
          <a:prstGeom prst="rect">
            <a:avLst/>
          </a:prstGeom>
        </p:spPr>
        <p:txBody>
          <a:bodyPr vert="horz" wrap="square" lIns="0" tIns="294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15"/>
              </a:spcBef>
            </a:pPr>
            <a:r>
              <a:rPr sz="4000" b="1" spc="105" dirty="0">
                <a:solidFill>
                  <a:srgbClr val="FFFFFF"/>
                </a:solidFill>
                <a:latin typeface="Times New Roman"/>
                <a:cs typeface="Times New Roman"/>
              </a:rPr>
              <a:t>Internship</a:t>
            </a:r>
            <a:r>
              <a:rPr sz="4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110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endParaRPr sz="4000" dirty="0">
              <a:latin typeface="Times New Roman"/>
              <a:cs typeface="Times New Roman"/>
            </a:endParaRPr>
          </a:p>
          <a:p>
            <a:pPr marL="12700">
              <a:spcBef>
                <a:spcPts val="1445"/>
              </a:spcBef>
            </a:pPr>
            <a:r>
              <a:rPr lang="en-IN" sz="2000" b="1" dirty="0">
                <a:solidFill>
                  <a:schemeClr val="bg1"/>
                </a:solidFill>
              </a:rPr>
              <a:t>Virtual Logistics Data Analysis Intern</a:t>
            </a:r>
            <a:endParaRPr lang="en-IN" sz="2000" dirty="0">
              <a:solidFill>
                <a:schemeClr val="bg1"/>
              </a:solidFill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8456" y="4619790"/>
            <a:ext cx="5410200" cy="1503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C9DBFB"/>
                </a:solidFill>
                <a:latin typeface="Calibri"/>
                <a:cs typeface="Calibri"/>
              </a:rPr>
              <a:t>Submitted</a:t>
            </a:r>
            <a:r>
              <a:rPr sz="1600" b="1" spc="-6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C9DBFB"/>
                </a:solidFill>
                <a:latin typeface="Calibri"/>
                <a:cs typeface="Calibri"/>
              </a:rPr>
              <a:t>By:</a:t>
            </a:r>
            <a:r>
              <a:rPr sz="1600" b="1" spc="-4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lang="en-US" sz="1600" b="1" spc="-45" dirty="0">
                <a:solidFill>
                  <a:srgbClr val="FFFFFF"/>
                </a:solidFill>
                <a:latin typeface="Calibri"/>
                <a:cs typeface="Calibri"/>
              </a:rPr>
              <a:t>Ayush Bhati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spc="-10" dirty="0">
                <a:solidFill>
                  <a:srgbClr val="C9DBFB"/>
                </a:solidFill>
                <a:latin typeface="Calibri"/>
                <a:cs typeface="Calibri"/>
              </a:rPr>
              <a:t>Program:</a:t>
            </a:r>
            <a:r>
              <a:rPr sz="1600" b="1" spc="-2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B.Tech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(Computer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Engineering),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600" spc="-2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spc="-20" dirty="0">
                <a:solidFill>
                  <a:srgbClr val="C9DBFB"/>
                </a:solidFill>
                <a:latin typeface="Calibri"/>
                <a:cs typeface="Calibri"/>
              </a:rPr>
              <a:t>Organization:</a:t>
            </a:r>
            <a:r>
              <a:rPr sz="1600" b="1" spc="4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lang="en-US" sz="1600" b="1" spc="-10" dirty="0" err="1">
                <a:solidFill>
                  <a:srgbClr val="FFFFFF"/>
                </a:solidFill>
                <a:latin typeface="Calibri"/>
                <a:cs typeface="Calibri"/>
              </a:rPr>
              <a:t>Yuvaintern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spc="-10" dirty="0">
                <a:solidFill>
                  <a:srgbClr val="C9DBFB"/>
                </a:solidFill>
                <a:latin typeface="Calibri"/>
                <a:cs typeface="Calibri"/>
              </a:rPr>
              <a:t>Duration:</a:t>
            </a:r>
            <a:r>
              <a:rPr sz="1600" b="1" spc="-2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lang="en-US" sz="1600" b="1" spc="-10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/0</a:t>
            </a:r>
            <a:r>
              <a:rPr lang="en-US" sz="1600" spc="-1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/2026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/0</a:t>
            </a:r>
            <a:r>
              <a:rPr lang="en-US" sz="1600" spc="-1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/2026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(4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Weeks)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D2660"/>
                </a:solidFill>
              </a:rPr>
              <a:t>About</a:t>
            </a:r>
            <a:r>
              <a:rPr sz="3200" spc="-45" dirty="0">
                <a:solidFill>
                  <a:srgbClr val="1D2660"/>
                </a:solidFill>
              </a:rPr>
              <a:t> </a:t>
            </a:r>
            <a:r>
              <a:rPr sz="3200" spc="150" dirty="0">
                <a:solidFill>
                  <a:srgbClr val="1D2660"/>
                </a:solidFill>
              </a:rPr>
              <a:t>the</a:t>
            </a:r>
            <a:r>
              <a:rPr sz="3200" spc="-45" dirty="0">
                <a:solidFill>
                  <a:srgbClr val="1D2660"/>
                </a:solidFill>
              </a:rPr>
              <a:t> </a:t>
            </a:r>
            <a:r>
              <a:rPr sz="3200" spc="-10" dirty="0">
                <a:solidFill>
                  <a:srgbClr val="1D2660"/>
                </a:solidFill>
              </a:rPr>
              <a:t>Organization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899896" y="1663090"/>
            <a:ext cx="5029189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YuvaIntern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/>
              <a:t>is a virtual internship platform that helps students and freshers gain practical industry experience through real-world projects and tasks. It provides internship opportunities in various fields such as </a:t>
            </a:r>
            <a:r>
              <a:rPr lang="en-US" sz="2000" b="1" dirty="0"/>
              <a:t>Data Analytics, Technology, Finance, Marketing, HR, Logistics, and Design</a:t>
            </a:r>
            <a:r>
              <a:rPr lang="en-US" sz="2000" dirty="0"/>
              <a:t>. The organization focuses on developing students’ practical skills, improving their professional knowledge, and preparing them for future career opportunities.</a:t>
            </a:r>
          </a:p>
        </p:txBody>
      </p:sp>
      <p:sp>
        <p:nvSpPr>
          <p:cNvPr id="14" name="object 14"/>
          <p:cNvSpPr/>
          <p:nvPr/>
        </p:nvSpPr>
        <p:spPr>
          <a:xfrm>
            <a:off x="6262916" y="1370876"/>
            <a:ext cx="5395595" cy="4755515"/>
          </a:xfrm>
          <a:custGeom>
            <a:avLst/>
            <a:gdLst/>
            <a:ahLst/>
            <a:cxnLst/>
            <a:rect l="l" t="t" r="r" b="b"/>
            <a:pathLst>
              <a:path w="5395595" h="4755515">
                <a:moveTo>
                  <a:pt x="110159" y="0"/>
                </a:moveTo>
                <a:lnTo>
                  <a:pt x="68095" y="8358"/>
                </a:lnTo>
                <a:lnTo>
                  <a:pt x="32535" y="32224"/>
                </a:lnTo>
                <a:lnTo>
                  <a:pt x="8721" y="67882"/>
                </a:lnTo>
                <a:lnTo>
                  <a:pt x="368" y="109804"/>
                </a:lnTo>
                <a:lnTo>
                  <a:pt x="0" y="4645444"/>
                </a:lnTo>
                <a:lnTo>
                  <a:pt x="939" y="4659874"/>
                </a:lnTo>
                <a:lnTo>
                  <a:pt x="14770" y="4700524"/>
                </a:lnTo>
                <a:lnTo>
                  <a:pt x="22686" y="4712237"/>
                </a:lnTo>
                <a:lnTo>
                  <a:pt x="22788" y="4712387"/>
                </a:lnTo>
                <a:lnTo>
                  <a:pt x="55079" y="4740478"/>
                </a:lnTo>
                <a:lnTo>
                  <a:pt x="95379" y="4754308"/>
                </a:lnTo>
                <a:lnTo>
                  <a:pt x="109804" y="4755248"/>
                </a:lnTo>
                <a:lnTo>
                  <a:pt x="5285524" y="4755248"/>
                </a:lnTo>
                <a:lnTo>
                  <a:pt x="5327595" y="4746890"/>
                </a:lnTo>
                <a:lnTo>
                  <a:pt x="5363097" y="4723068"/>
                </a:lnTo>
                <a:lnTo>
                  <a:pt x="5386894" y="4687515"/>
                </a:lnTo>
                <a:lnTo>
                  <a:pt x="5386970" y="4687365"/>
                </a:lnTo>
                <a:lnTo>
                  <a:pt x="5391576" y="4673931"/>
                </a:lnTo>
                <a:lnTo>
                  <a:pt x="5394387" y="4659874"/>
                </a:lnTo>
                <a:lnTo>
                  <a:pt x="5395328" y="4645444"/>
                </a:lnTo>
                <a:lnTo>
                  <a:pt x="5395305" y="109804"/>
                </a:lnTo>
                <a:lnTo>
                  <a:pt x="5386970" y="68095"/>
                </a:lnTo>
                <a:lnTo>
                  <a:pt x="5363103" y="32535"/>
                </a:lnTo>
                <a:lnTo>
                  <a:pt x="5327445" y="8721"/>
                </a:lnTo>
                <a:lnTo>
                  <a:pt x="5285524" y="368"/>
                </a:lnTo>
                <a:lnTo>
                  <a:pt x="110159" y="0"/>
                </a:lnTo>
                <a:close/>
              </a:path>
            </a:pathLst>
          </a:custGeom>
          <a:solidFill>
            <a:srgbClr val="1D2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14896" y="1663090"/>
            <a:ext cx="2350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Internship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Snapshot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534136" y="6598784"/>
            <a:ext cx="2628265" cy="2840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lang="en-IN" dirty="0"/>
              <a:t>Virtual Logistics Data Analysis Intern</a:t>
            </a:r>
            <a:r>
              <a:rPr spc="-20" dirty="0"/>
              <a:t> </a:t>
            </a:r>
            <a:r>
              <a:rPr dirty="0"/>
              <a:t>|</a:t>
            </a:r>
            <a:r>
              <a:rPr lang="en-US" spc="-5" dirty="0"/>
              <a:t>Ayush</a:t>
            </a:r>
            <a:r>
              <a:rPr dirty="0"/>
              <a:t> </a:t>
            </a:r>
            <a:r>
              <a:rPr spc="-20" dirty="0"/>
              <a:t>Bhati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6614896" y="2486418"/>
            <a:ext cx="1007744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80" dirty="0">
                <a:solidFill>
                  <a:srgbClr val="C8A126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1200" spc="-10" dirty="0">
                <a:solidFill>
                  <a:srgbClr val="C9DBFB"/>
                </a:solidFill>
                <a:latin typeface="Calibri"/>
                <a:cs typeface="Calibri"/>
              </a:rPr>
              <a:t>Weeks</a:t>
            </a:r>
            <a:r>
              <a:rPr sz="1200" spc="-5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C9DBFB"/>
                </a:solidFill>
                <a:latin typeface="Calibri"/>
                <a:cs typeface="Calibri"/>
              </a:rPr>
              <a:t>Duration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20936" y="2486418"/>
            <a:ext cx="121475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C8A126"/>
                </a:solidFill>
                <a:latin typeface="Times New Roman"/>
                <a:cs typeface="Times New Roman"/>
              </a:rPr>
              <a:t>Virtual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1200" dirty="0">
                <a:solidFill>
                  <a:srgbClr val="C9DBFB"/>
                </a:solidFill>
                <a:latin typeface="Calibri"/>
                <a:cs typeface="Calibri"/>
              </a:rPr>
              <a:t>Mode</a:t>
            </a:r>
            <a:r>
              <a:rPr sz="1200" spc="-2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C9DBFB"/>
                </a:solidFill>
                <a:latin typeface="Calibri"/>
                <a:cs typeface="Calibri"/>
              </a:rPr>
              <a:t>of</a:t>
            </a:r>
            <a:r>
              <a:rPr sz="1200" spc="-3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C9DBFB"/>
                </a:solidFill>
                <a:latin typeface="Calibri"/>
                <a:cs typeface="Calibri"/>
              </a:rPr>
              <a:t>Internship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14896" y="4223778"/>
            <a:ext cx="108648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45" dirty="0">
                <a:solidFill>
                  <a:srgbClr val="C8A126"/>
                </a:solidFill>
                <a:latin typeface="Times New Roman"/>
                <a:cs typeface="Times New Roman"/>
              </a:rPr>
              <a:t>Python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1200" dirty="0">
                <a:solidFill>
                  <a:srgbClr val="C9DBFB"/>
                </a:solidFill>
                <a:latin typeface="Calibri"/>
                <a:cs typeface="Calibri"/>
              </a:rPr>
              <a:t>Core</a:t>
            </a:r>
            <a:r>
              <a:rPr sz="1200" spc="-4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C9DBFB"/>
                </a:solidFill>
                <a:latin typeface="Calibri"/>
                <a:cs typeface="Calibri"/>
              </a:rPr>
              <a:t>Domain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20936" y="4223778"/>
            <a:ext cx="1751128" cy="8156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600" b="1" spc="-55" dirty="0" err="1">
                <a:solidFill>
                  <a:srgbClr val="C8A126"/>
                </a:solidFill>
                <a:latin typeface="Times New Roman"/>
                <a:cs typeface="Times New Roman"/>
              </a:rPr>
              <a:t>Yuvaintern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1200" dirty="0">
                <a:solidFill>
                  <a:srgbClr val="C9DBFB"/>
                </a:solidFill>
                <a:latin typeface="Calibri"/>
                <a:cs typeface="Calibri"/>
              </a:rPr>
              <a:t>Host</a:t>
            </a:r>
            <a:r>
              <a:rPr sz="12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C9DBFB"/>
                </a:solidFill>
                <a:latin typeface="Calibri"/>
                <a:cs typeface="Calibri"/>
              </a:rPr>
              <a:t>Organization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D2660"/>
                </a:solidFill>
              </a:rPr>
              <a:t>Objectives</a:t>
            </a:r>
            <a:r>
              <a:rPr sz="3200" spc="-30" dirty="0">
                <a:solidFill>
                  <a:srgbClr val="1D2660"/>
                </a:solidFill>
              </a:rPr>
              <a:t> </a:t>
            </a:r>
            <a:r>
              <a:rPr sz="3200" dirty="0">
                <a:solidFill>
                  <a:srgbClr val="1D2660"/>
                </a:solidFill>
              </a:rPr>
              <a:t>of</a:t>
            </a:r>
            <a:r>
              <a:rPr sz="3200" spc="-20" dirty="0">
                <a:solidFill>
                  <a:srgbClr val="1D2660"/>
                </a:solidFill>
              </a:rPr>
              <a:t> </a:t>
            </a:r>
            <a:r>
              <a:rPr sz="3200" spc="150" dirty="0">
                <a:solidFill>
                  <a:srgbClr val="1D2660"/>
                </a:solidFill>
              </a:rPr>
              <a:t>the</a:t>
            </a:r>
            <a:r>
              <a:rPr sz="3200" spc="-25" dirty="0">
                <a:solidFill>
                  <a:srgbClr val="1D2660"/>
                </a:solidFill>
              </a:rPr>
              <a:t> </a:t>
            </a:r>
            <a:r>
              <a:rPr sz="3200" spc="80" dirty="0">
                <a:solidFill>
                  <a:srgbClr val="1D2660"/>
                </a:solidFill>
              </a:rPr>
              <a:t>Internship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541984" y="1410664"/>
            <a:ext cx="5454015" cy="2070735"/>
            <a:chOff x="541984" y="1410664"/>
            <a:chExt cx="5454015" cy="2070735"/>
          </a:xfrm>
        </p:grpSpPr>
        <p:sp>
          <p:nvSpPr>
            <p:cNvPr id="4" name="object 4"/>
            <p:cNvSpPr/>
            <p:nvPr/>
          </p:nvSpPr>
          <p:spPr>
            <a:xfrm>
              <a:off x="548284" y="1416964"/>
              <a:ext cx="5441315" cy="2058035"/>
            </a:xfrm>
            <a:custGeom>
              <a:avLst/>
              <a:gdLst/>
              <a:ahLst/>
              <a:cxnLst/>
              <a:rect l="l" t="t" r="r" b="b"/>
              <a:pathLst>
                <a:path w="5441315" h="205803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1966315"/>
                  </a:lnTo>
                  <a:lnTo>
                    <a:pt x="798" y="1978320"/>
                  </a:lnTo>
                  <a:lnTo>
                    <a:pt x="18830" y="2022079"/>
                  </a:lnTo>
                  <a:lnTo>
                    <a:pt x="56505" y="2050769"/>
                  </a:lnTo>
                  <a:lnTo>
                    <a:pt x="91440" y="2057755"/>
                  </a:lnTo>
                  <a:lnTo>
                    <a:pt x="5349595" y="2057755"/>
                  </a:lnTo>
                  <a:lnTo>
                    <a:pt x="5395315" y="2045512"/>
                  </a:lnTo>
                  <a:lnTo>
                    <a:pt x="5428792" y="2012035"/>
                  </a:lnTo>
                  <a:lnTo>
                    <a:pt x="5441035" y="1966315"/>
                  </a:lnTo>
                  <a:lnTo>
                    <a:pt x="5441011" y="91439"/>
                  </a:lnTo>
                  <a:lnTo>
                    <a:pt x="5428792" y="46075"/>
                  </a:lnTo>
                  <a:lnTo>
                    <a:pt x="5395315" y="12598"/>
                  </a:lnTo>
                  <a:lnTo>
                    <a:pt x="53495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284" y="1416964"/>
              <a:ext cx="5441315" cy="2058035"/>
            </a:xfrm>
            <a:custGeom>
              <a:avLst/>
              <a:gdLst/>
              <a:ahLst/>
              <a:cxnLst/>
              <a:rect l="l" t="t" r="r" b="b"/>
              <a:pathLst>
                <a:path w="5441315" h="205803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5349595" y="355"/>
                  </a:lnTo>
                  <a:lnTo>
                    <a:pt x="5395315" y="12598"/>
                  </a:lnTo>
                  <a:lnTo>
                    <a:pt x="5428792" y="46075"/>
                  </a:lnTo>
                  <a:lnTo>
                    <a:pt x="5441035" y="91795"/>
                  </a:lnTo>
                  <a:lnTo>
                    <a:pt x="5441035" y="1966315"/>
                  </a:lnTo>
                  <a:lnTo>
                    <a:pt x="5440237" y="1978320"/>
                  </a:lnTo>
                  <a:lnTo>
                    <a:pt x="5437885" y="1989985"/>
                  </a:lnTo>
                  <a:lnTo>
                    <a:pt x="5414354" y="2031074"/>
                  </a:lnTo>
                  <a:lnTo>
                    <a:pt x="5373265" y="2054605"/>
                  </a:lnTo>
                  <a:lnTo>
                    <a:pt x="5349595" y="2057755"/>
                  </a:lnTo>
                  <a:lnTo>
                    <a:pt x="91440" y="2057755"/>
                  </a:lnTo>
                  <a:lnTo>
                    <a:pt x="45720" y="2045512"/>
                  </a:lnTo>
                  <a:lnTo>
                    <a:pt x="12230" y="2012035"/>
                  </a:lnTo>
                  <a:lnTo>
                    <a:pt x="0" y="196631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C9D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2960" y="16916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576"/>
                  </a:lnTo>
                  <a:lnTo>
                    <a:pt x="218640" y="500421"/>
                  </a:lnTo>
                  <a:lnTo>
                    <a:pt x="251637" y="502564"/>
                  </a:lnTo>
                  <a:lnTo>
                    <a:pt x="284429" y="500421"/>
                  </a:lnTo>
                  <a:lnTo>
                    <a:pt x="347723" y="483576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03579" y="1777936"/>
            <a:ext cx="1422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6064" y="1736534"/>
            <a:ext cx="16579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D2660"/>
                </a:solidFill>
                <a:latin typeface="Calibri"/>
                <a:cs typeface="Calibri"/>
              </a:rPr>
              <a:t>Practical</a:t>
            </a:r>
            <a:r>
              <a:rPr sz="1700" b="1" spc="-90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D2660"/>
                </a:solidFill>
                <a:latin typeface="Calibri"/>
                <a:cs typeface="Calibri"/>
              </a:rPr>
              <a:t>Exposure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0264" y="2363660"/>
            <a:ext cx="46285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Gain</a:t>
            </a:r>
            <a:r>
              <a:rPr sz="1300" spc="-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hands-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experience</a:t>
            </a:r>
            <a:r>
              <a:rPr sz="130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Python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programming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beyond</a:t>
            </a:r>
            <a:r>
              <a:rPr sz="130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classroom learning.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02704" y="1410664"/>
            <a:ext cx="5454015" cy="2070735"/>
            <a:chOff x="6302704" y="1410664"/>
            <a:chExt cx="5454015" cy="2070735"/>
          </a:xfrm>
        </p:grpSpPr>
        <p:sp>
          <p:nvSpPr>
            <p:cNvPr id="11" name="object 11"/>
            <p:cNvSpPr/>
            <p:nvPr/>
          </p:nvSpPr>
          <p:spPr>
            <a:xfrm>
              <a:off x="6309004" y="1416964"/>
              <a:ext cx="5441315" cy="2058035"/>
            </a:xfrm>
            <a:custGeom>
              <a:avLst/>
              <a:gdLst/>
              <a:ahLst/>
              <a:cxnLst/>
              <a:rect l="l" t="t" r="r" b="b"/>
              <a:pathLst>
                <a:path w="5441315" h="205803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1966315"/>
                  </a:lnTo>
                  <a:lnTo>
                    <a:pt x="798" y="1978320"/>
                  </a:lnTo>
                  <a:lnTo>
                    <a:pt x="18830" y="2022079"/>
                  </a:lnTo>
                  <a:lnTo>
                    <a:pt x="56505" y="2050769"/>
                  </a:lnTo>
                  <a:lnTo>
                    <a:pt x="91439" y="2057755"/>
                  </a:lnTo>
                  <a:lnTo>
                    <a:pt x="5349595" y="2057755"/>
                  </a:lnTo>
                  <a:lnTo>
                    <a:pt x="5395315" y="2045512"/>
                  </a:lnTo>
                  <a:lnTo>
                    <a:pt x="5428792" y="2012035"/>
                  </a:lnTo>
                  <a:lnTo>
                    <a:pt x="5441035" y="1966315"/>
                  </a:lnTo>
                  <a:lnTo>
                    <a:pt x="5441011" y="91439"/>
                  </a:lnTo>
                  <a:lnTo>
                    <a:pt x="5428792" y="46075"/>
                  </a:lnTo>
                  <a:lnTo>
                    <a:pt x="5395315" y="12598"/>
                  </a:lnTo>
                  <a:lnTo>
                    <a:pt x="53495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09004" y="1416964"/>
              <a:ext cx="5441315" cy="2058035"/>
            </a:xfrm>
            <a:custGeom>
              <a:avLst/>
              <a:gdLst/>
              <a:ahLst/>
              <a:cxnLst/>
              <a:rect l="l" t="t" r="r" b="b"/>
              <a:pathLst>
                <a:path w="5441315" h="205803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5349595" y="355"/>
                  </a:lnTo>
                  <a:lnTo>
                    <a:pt x="5395315" y="12598"/>
                  </a:lnTo>
                  <a:lnTo>
                    <a:pt x="5428792" y="46075"/>
                  </a:lnTo>
                  <a:lnTo>
                    <a:pt x="5441035" y="91795"/>
                  </a:lnTo>
                  <a:lnTo>
                    <a:pt x="5441035" y="1966315"/>
                  </a:lnTo>
                  <a:lnTo>
                    <a:pt x="5440237" y="1978320"/>
                  </a:lnTo>
                  <a:lnTo>
                    <a:pt x="5437886" y="1989985"/>
                  </a:lnTo>
                  <a:lnTo>
                    <a:pt x="5414354" y="2031074"/>
                  </a:lnTo>
                  <a:lnTo>
                    <a:pt x="5373265" y="2054605"/>
                  </a:lnTo>
                  <a:lnTo>
                    <a:pt x="5349595" y="2057755"/>
                  </a:lnTo>
                  <a:lnTo>
                    <a:pt x="91439" y="2057755"/>
                  </a:lnTo>
                  <a:lnTo>
                    <a:pt x="45720" y="2045512"/>
                  </a:lnTo>
                  <a:lnTo>
                    <a:pt x="12230" y="2012035"/>
                  </a:lnTo>
                  <a:lnTo>
                    <a:pt x="0" y="196631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C9D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83679" y="16916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576"/>
                  </a:lnTo>
                  <a:lnTo>
                    <a:pt x="218640" y="500421"/>
                  </a:lnTo>
                  <a:lnTo>
                    <a:pt x="251637" y="502564"/>
                  </a:lnTo>
                  <a:lnTo>
                    <a:pt x="284429" y="500421"/>
                  </a:lnTo>
                  <a:lnTo>
                    <a:pt x="347723" y="483576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58178" y="1777936"/>
            <a:ext cx="154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0984" y="1736534"/>
            <a:ext cx="459359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D2660"/>
                </a:solidFill>
                <a:latin typeface="Calibri"/>
                <a:cs typeface="Calibri"/>
              </a:rPr>
              <a:t>Core</a:t>
            </a:r>
            <a:r>
              <a:rPr sz="1700" b="1" spc="-3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D2660"/>
                </a:solidFill>
                <a:latin typeface="Calibri"/>
                <a:cs typeface="Calibri"/>
              </a:rPr>
              <a:t>Concepts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Strengthen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understanding</a:t>
            </a:r>
            <a:r>
              <a:rPr sz="13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data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structures,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control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flow,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functions,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1300" spc="-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OOP.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1984" y="3742384"/>
            <a:ext cx="5454015" cy="2070735"/>
            <a:chOff x="541984" y="3742384"/>
            <a:chExt cx="5454015" cy="2070735"/>
          </a:xfrm>
        </p:grpSpPr>
        <p:sp>
          <p:nvSpPr>
            <p:cNvPr id="17" name="object 17"/>
            <p:cNvSpPr/>
            <p:nvPr/>
          </p:nvSpPr>
          <p:spPr>
            <a:xfrm>
              <a:off x="548284" y="3748684"/>
              <a:ext cx="5441315" cy="2058035"/>
            </a:xfrm>
            <a:custGeom>
              <a:avLst/>
              <a:gdLst/>
              <a:ahLst/>
              <a:cxnLst/>
              <a:rect l="l" t="t" r="r" b="b"/>
              <a:pathLst>
                <a:path w="5441315" h="205803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1966315"/>
                  </a:lnTo>
                  <a:lnTo>
                    <a:pt x="798" y="1978320"/>
                  </a:lnTo>
                  <a:lnTo>
                    <a:pt x="18830" y="2022079"/>
                  </a:lnTo>
                  <a:lnTo>
                    <a:pt x="56505" y="2050769"/>
                  </a:lnTo>
                  <a:lnTo>
                    <a:pt x="91440" y="2057755"/>
                  </a:lnTo>
                  <a:lnTo>
                    <a:pt x="5349595" y="2057755"/>
                  </a:lnTo>
                  <a:lnTo>
                    <a:pt x="5395315" y="2045512"/>
                  </a:lnTo>
                  <a:lnTo>
                    <a:pt x="5428792" y="2012035"/>
                  </a:lnTo>
                  <a:lnTo>
                    <a:pt x="5441035" y="1966315"/>
                  </a:lnTo>
                  <a:lnTo>
                    <a:pt x="5441011" y="91439"/>
                  </a:lnTo>
                  <a:lnTo>
                    <a:pt x="5428792" y="46075"/>
                  </a:lnTo>
                  <a:lnTo>
                    <a:pt x="5395315" y="12598"/>
                  </a:lnTo>
                  <a:lnTo>
                    <a:pt x="53495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8284" y="3748684"/>
              <a:ext cx="5441315" cy="2058035"/>
            </a:xfrm>
            <a:custGeom>
              <a:avLst/>
              <a:gdLst/>
              <a:ahLst/>
              <a:cxnLst/>
              <a:rect l="l" t="t" r="r" b="b"/>
              <a:pathLst>
                <a:path w="5441315" h="205803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5349595" y="355"/>
                  </a:lnTo>
                  <a:lnTo>
                    <a:pt x="5395315" y="12598"/>
                  </a:lnTo>
                  <a:lnTo>
                    <a:pt x="5428792" y="46075"/>
                  </a:lnTo>
                  <a:lnTo>
                    <a:pt x="5441035" y="91795"/>
                  </a:lnTo>
                  <a:lnTo>
                    <a:pt x="5441035" y="1966315"/>
                  </a:lnTo>
                  <a:lnTo>
                    <a:pt x="5440237" y="1978320"/>
                  </a:lnTo>
                  <a:lnTo>
                    <a:pt x="5437885" y="1989985"/>
                  </a:lnTo>
                  <a:lnTo>
                    <a:pt x="5414354" y="2031074"/>
                  </a:lnTo>
                  <a:lnTo>
                    <a:pt x="5373265" y="2054605"/>
                  </a:lnTo>
                  <a:lnTo>
                    <a:pt x="5349595" y="2057755"/>
                  </a:lnTo>
                  <a:lnTo>
                    <a:pt x="91440" y="2057755"/>
                  </a:lnTo>
                  <a:lnTo>
                    <a:pt x="45720" y="2045512"/>
                  </a:lnTo>
                  <a:lnTo>
                    <a:pt x="12230" y="2012035"/>
                  </a:lnTo>
                  <a:lnTo>
                    <a:pt x="0" y="196631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C9D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2960" y="40233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19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97458" y="4109656"/>
            <a:ext cx="154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6064" y="4068254"/>
            <a:ext cx="1254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D2660"/>
                </a:solidFill>
                <a:latin typeface="Calibri"/>
                <a:cs typeface="Calibri"/>
              </a:rPr>
              <a:t>Build</a:t>
            </a:r>
            <a:r>
              <a:rPr sz="1700" b="1" spc="-25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D2660"/>
                </a:solidFill>
                <a:latin typeface="Calibri"/>
                <a:cs typeface="Calibri"/>
              </a:rPr>
              <a:t>Projects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0264" y="4695380"/>
            <a:ext cx="46412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Develop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small,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functional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Python</a:t>
            </a:r>
            <a:r>
              <a:rPr sz="1300" spc="-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applications</a:t>
            </a:r>
            <a:r>
              <a:rPr sz="130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as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part</a:t>
            </a:r>
            <a:r>
              <a:rPr sz="130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guided</a:t>
            </a:r>
            <a:r>
              <a:rPr sz="130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tasks.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02704" y="3742384"/>
            <a:ext cx="5454015" cy="2070735"/>
            <a:chOff x="6302704" y="3742384"/>
            <a:chExt cx="5454015" cy="2070735"/>
          </a:xfrm>
        </p:grpSpPr>
        <p:sp>
          <p:nvSpPr>
            <p:cNvPr id="24" name="object 24"/>
            <p:cNvSpPr/>
            <p:nvPr/>
          </p:nvSpPr>
          <p:spPr>
            <a:xfrm>
              <a:off x="6309004" y="3748684"/>
              <a:ext cx="5441315" cy="2058035"/>
            </a:xfrm>
            <a:custGeom>
              <a:avLst/>
              <a:gdLst/>
              <a:ahLst/>
              <a:cxnLst/>
              <a:rect l="l" t="t" r="r" b="b"/>
              <a:pathLst>
                <a:path w="5441315" h="2058035">
                  <a:moveTo>
                    <a:pt x="91795" y="0"/>
                  </a:moveTo>
                  <a:lnTo>
                    <a:pt x="46075" y="12230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1966315"/>
                  </a:lnTo>
                  <a:lnTo>
                    <a:pt x="798" y="1978320"/>
                  </a:lnTo>
                  <a:lnTo>
                    <a:pt x="18830" y="2022079"/>
                  </a:lnTo>
                  <a:lnTo>
                    <a:pt x="56505" y="2050769"/>
                  </a:lnTo>
                  <a:lnTo>
                    <a:pt x="91439" y="2057755"/>
                  </a:lnTo>
                  <a:lnTo>
                    <a:pt x="5349595" y="2057755"/>
                  </a:lnTo>
                  <a:lnTo>
                    <a:pt x="5395315" y="2045512"/>
                  </a:lnTo>
                  <a:lnTo>
                    <a:pt x="5428792" y="2012035"/>
                  </a:lnTo>
                  <a:lnTo>
                    <a:pt x="5441035" y="1966315"/>
                  </a:lnTo>
                  <a:lnTo>
                    <a:pt x="5441011" y="91439"/>
                  </a:lnTo>
                  <a:lnTo>
                    <a:pt x="5428792" y="46075"/>
                  </a:lnTo>
                  <a:lnTo>
                    <a:pt x="5395315" y="12598"/>
                  </a:lnTo>
                  <a:lnTo>
                    <a:pt x="53495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09004" y="3748684"/>
              <a:ext cx="5441315" cy="2058035"/>
            </a:xfrm>
            <a:custGeom>
              <a:avLst/>
              <a:gdLst/>
              <a:ahLst/>
              <a:cxnLst/>
              <a:rect l="l" t="t" r="r" b="b"/>
              <a:pathLst>
                <a:path w="5441315" h="205803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5349595" y="355"/>
                  </a:lnTo>
                  <a:lnTo>
                    <a:pt x="5395315" y="12598"/>
                  </a:lnTo>
                  <a:lnTo>
                    <a:pt x="5428792" y="46075"/>
                  </a:lnTo>
                  <a:lnTo>
                    <a:pt x="5441035" y="91795"/>
                  </a:lnTo>
                  <a:lnTo>
                    <a:pt x="5441035" y="1966315"/>
                  </a:lnTo>
                  <a:lnTo>
                    <a:pt x="5440237" y="1978320"/>
                  </a:lnTo>
                  <a:lnTo>
                    <a:pt x="5437886" y="1989985"/>
                  </a:lnTo>
                  <a:lnTo>
                    <a:pt x="5414354" y="2031074"/>
                  </a:lnTo>
                  <a:lnTo>
                    <a:pt x="5373265" y="2054605"/>
                  </a:lnTo>
                  <a:lnTo>
                    <a:pt x="5349595" y="2057755"/>
                  </a:lnTo>
                  <a:lnTo>
                    <a:pt x="91439" y="2057755"/>
                  </a:lnTo>
                  <a:lnTo>
                    <a:pt x="45720" y="2045512"/>
                  </a:lnTo>
                  <a:lnTo>
                    <a:pt x="12230" y="2012035"/>
                  </a:lnTo>
                  <a:lnTo>
                    <a:pt x="0" y="196631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C9D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83679" y="40233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19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D2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752056" y="4109656"/>
            <a:ext cx="166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xfrm>
            <a:off x="534136" y="6598784"/>
            <a:ext cx="2628265" cy="2840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lang="en-IN" dirty="0"/>
              <a:t>Virtual Logistics Data Analysis Intern</a:t>
            </a:r>
            <a:r>
              <a:rPr spc="-10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lang="en-US" spc="-5" dirty="0"/>
              <a:t>Ayush </a:t>
            </a:r>
            <a:r>
              <a:rPr spc="-20" dirty="0"/>
              <a:t>Bhati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8" name="object 28"/>
          <p:cNvSpPr txBox="1"/>
          <p:nvPr/>
        </p:nvSpPr>
        <p:spPr>
          <a:xfrm>
            <a:off x="6660984" y="4068254"/>
            <a:ext cx="4505325" cy="85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D2660"/>
                </a:solidFill>
                <a:latin typeface="Calibri"/>
                <a:cs typeface="Calibri"/>
              </a:rPr>
              <a:t>Problem</a:t>
            </a:r>
            <a:r>
              <a:rPr sz="1700" b="1" spc="-50" dirty="0">
                <a:solidFill>
                  <a:srgbClr val="1D266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1D2660"/>
                </a:solidFill>
                <a:latin typeface="Calibri"/>
                <a:cs typeface="Calibri"/>
              </a:rPr>
              <a:t>Solving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Improve</a:t>
            </a:r>
            <a:r>
              <a:rPr sz="130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debugging,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logical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reasoning,</a:t>
            </a:r>
            <a:r>
              <a:rPr sz="130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independent</a:t>
            </a:r>
            <a:r>
              <a:rPr sz="13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work</a:t>
            </a:r>
            <a:r>
              <a:rPr sz="1300" spc="-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skills.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84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Learning</a:t>
            </a:r>
            <a:r>
              <a:rPr sz="3200" spc="155" dirty="0"/>
              <a:t> </a:t>
            </a:r>
            <a:r>
              <a:rPr sz="3200" spc="40" dirty="0"/>
              <a:t>Outcomes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1700644"/>
            <a:ext cx="201244" cy="2012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19" y="2477884"/>
            <a:ext cx="201244" cy="2012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19" y="3255124"/>
            <a:ext cx="201244" cy="2012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4032364"/>
            <a:ext cx="201244" cy="2012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4809604"/>
            <a:ext cx="201244" cy="20123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Stronger</a:t>
            </a:r>
            <a:r>
              <a:rPr spc="-50" dirty="0"/>
              <a:t> </a:t>
            </a:r>
            <a:r>
              <a:rPr dirty="0"/>
              <a:t>command</a:t>
            </a:r>
            <a:r>
              <a:rPr spc="-50" dirty="0"/>
              <a:t> </a:t>
            </a:r>
            <a:r>
              <a:rPr dirty="0"/>
              <a:t>over</a:t>
            </a:r>
            <a:r>
              <a:rPr spc="-60" dirty="0"/>
              <a:t> </a:t>
            </a:r>
            <a:r>
              <a:rPr dirty="0"/>
              <a:t>Python</a:t>
            </a:r>
            <a:r>
              <a:rPr spc="-45" dirty="0"/>
              <a:t> </a:t>
            </a:r>
            <a:r>
              <a:rPr dirty="0"/>
              <a:t>syntax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applied</a:t>
            </a:r>
            <a:r>
              <a:rPr spc="-50" dirty="0"/>
              <a:t> </a:t>
            </a:r>
            <a:r>
              <a:rPr spc="-10" dirty="0"/>
              <a:t>programming</a:t>
            </a:r>
          </a:p>
          <a:p>
            <a:pPr marL="12700" marR="149860">
              <a:lnSpc>
                <a:spcPct val="300000"/>
              </a:lnSpc>
            </a:pPr>
            <a:r>
              <a:rPr dirty="0"/>
              <a:t>Improved</a:t>
            </a:r>
            <a:r>
              <a:rPr spc="-55" dirty="0"/>
              <a:t> </a:t>
            </a:r>
            <a:r>
              <a:rPr dirty="0"/>
              <a:t>ability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break</a:t>
            </a:r>
            <a:r>
              <a:rPr spc="-50" dirty="0"/>
              <a:t> </a:t>
            </a:r>
            <a:r>
              <a:rPr dirty="0"/>
              <a:t>problems</a:t>
            </a:r>
            <a:r>
              <a:rPr spc="-50" dirty="0"/>
              <a:t> </a:t>
            </a:r>
            <a:r>
              <a:rPr dirty="0"/>
              <a:t>into</a:t>
            </a:r>
            <a:r>
              <a:rPr spc="-55" dirty="0"/>
              <a:t> </a:t>
            </a:r>
            <a:r>
              <a:rPr dirty="0"/>
              <a:t>manageable</a:t>
            </a:r>
            <a:r>
              <a:rPr spc="-55" dirty="0"/>
              <a:t> </a:t>
            </a:r>
            <a:r>
              <a:rPr spc="-10" dirty="0"/>
              <a:t>components Systematic</a:t>
            </a:r>
            <a:r>
              <a:rPr spc="-40" dirty="0"/>
              <a:t> </a:t>
            </a:r>
            <a:r>
              <a:rPr dirty="0"/>
              <a:t>debugging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5" dirty="0"/>
              <a:t>error-</a:t>
            </a:r>
            <a:r>
              <a:rPr dirty="0"/>
              <a:t>resolution</a:t>
            </a:r>
            <a:r>
              <a:rPr spc="-35" dirty="0"/>
              <a:t> </a:t>
            </a:r>
            <a:r>
              <a:rPr spc="-10" dirty="0"/>
              <a:t>skills</a:t>
            </a:r>
          </a:p>
          <a:p>
            <a:pPr marL="12700" marR="5080">
              <a:lnSpc>
                <a:spcPct val="300000"/>
              </a:lnSpc>
            </a:pPr>
            <a:r>
              <a:rPr dirty="0"/>
              <a:t>Independent</a:t>
            </a:r>
            <a:r>
              <a:rPr spc="-50" dirty="0"/>
              <a:t> </a:t>
            </a:r>
            <a:r>
              <a:rPr dirty="0"/>
              <a:t>time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deliverable</a:t>
            </a:r>
            <a:r>
              <a:rPr spc="-35" dirty="0"/>
              <a:t> </a:t>
            </a:r>
            <a:r>
              <a:rPr dirty="0"/>
              <a:t>management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remote</a:t>
            </a:r>
            <a:r>
              <a:rPr spc="-35" dirty="0"/>
              <a:t> </a:t>
            </a:r>
            <a:r>
              <a:rPr spc="-10" dirty="0"/>
              <a:t>setting Greater</a:t>
            </a:r>
            <a:r>
              <a:rPr spc="-45" dirty="0"/>
              <a:t> </a:t>
            </a:r>
            <a:r>
              <a:rPr dirty="0"/>
              <a:t>confidence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10" dirty="0"/>
              <a:t>take</a:t>
            </a:r>
            <a:r>
              <a:rPr spc="-4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new</a:t>
            </a:r>
            <a:r>
              <a:rPr spc="-45" dirty="0"/>
              <a:t> </a:t>
            </a:r>
            <a:r>
              <a:rPr spc="-10" dirty="0"/>
              <a:t>programming</a:t>
            </a:r>
            <a:r>
              <a:rPr spc="-35" dirty="0"/>
              <a:t> </a:t>
            </a:r>
            <a:r>
              <a:rPr spc="-10" dirty="0"/>
              <a:t>challenges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34136" y="6598784"/>
            <a:ext cx="2628265" cy="2840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lang="en-IN" dirty="0"/>
              <a:t>Virtual Logistics Data Analysis Intern</a:t>
            </a:r>
            <a:r>
              <a:rPr spc="-10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lang="en-US" spc="-5" dirty="0"/>
              <a:t>Ayush</a:t>
            </a:r>
            <a:r>
              <a:rPr dirty="0"/>
              <a:t> </a:t>
            </a:r>
            <a:r>
              <a:rPr spc="-20" dirty="0"/>
              <a:t>Bhati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D2660"/>
                </a:solidFill>
              </a:rPr>
              <a:t>Certificate</a:t>
            </a:r>
            <a:r>
              <a:rPr sz="3200" spc="80" dirty="0">
                <a:solidFill>
                  <a:srgbClr val="1D2660"/>
                </a:solidFill>
              </a:rPr>
              <a:t> </a:t>
            </a:r>
            <a:r>
              <a:rPr sz="3200" dirty="0">
                <a:solidFill>
                  <a:srgbClr val="1D2660"/>
                </a:solidFill>
              </a:rPr>
              <a:t>of</a:t>
            </a:r>
            <a:r>
              <a:rPr sz="3200" spc="80" dirty="0">
                <a:solidFill>
                  <a:srgbClr val="1D2660"/>
                </a:solidFill>
              </a:rPr>
              <a:t> </a:t>
            </a:r>
            <a:r>
              <a:rPr sz="3200" spc="35" dirty="0">
                <a:solidFill>
                  <a:srgbClr val="1D2660"/>
                </a:solidFill>
              </a:rPr>
              <a:t>Completion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4136" y="6598784"/>
            <a:ext cx="2628265" cy="2840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Internship</a:t>
            </a:r>
            <a:r>
              <a:rPr dirty="0"/>
              <a:t> Report —</a:t>
            </a:r>
            <a:r>
              <a:rPr spc="-20" dirty="0"/>
              <a:t> </a:t>
            </a:r>
            <a:r>
              <a:rPr lang="en-IN" dirty="0"/>
              <a:t>Virtual Logistics Data Analysis Intern</a:t>
            </a:r>
            <a:r>
              <a:rPr spc="-10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lang="en-US" spc="-5" dirty="0"/>
              <a:t>Ayush</a:t>
            </a:r>
            <a:r>
              <a:rPr dirty="0"/>
              <a:t> </a:t>
            </a:r>
            <a:r>
              <a:rPr spc="-20" dirty="0"/>
              <a:t>Bhati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F04BA-CF11-284F-E55C-1AC1C3C5C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143000"/>
            <a:ext cx="10287000" cy="53006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1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547916" y="1553756"/>
            <a:ext cx="11064875" cy="4206875"/>
          </a:xfrm>
          <a:custGeom>
            <a:avLst/>
            <a:gdLst/>
            <a:ahLst/>
            <a:cxnLst/>
            <a:rect l="l" t="t" r="r" b="b"/>
            <a:pathLst>
              <a:path w="11064875" h="4206875">
                <a:moveTo>
                  <a:pt x="110159" y="0"/>
                </a:moveTo>
                <a:lnTo>
                  <a:pt x="68095" y="8358"/>
                </a:lnTo>
                <a:lnTo>
                  <a:pt x="32535" y="32224"/>
                </a:lnTo>
                <a:lnTo>
                  <a:pt x="8721" y="67882"/>
                </a:lnTo>
                <a:lnTo>
                  <a:pt x="368" y="109804"/>
                </a:lnTo>
                <a:lnTo>
                  <a:pt x="0" y="4096804"/>
                </a:lnTo>
                <a:lnTo>
                  <a:pt x="939" y="4111234"/>
                </a:lnTo>
                <a:lnTo>
                  <a:pt x="14770" y="4151883"/>
                </a:lnTo>
                <a:lnTo>
                  <a:pt x="43011" y="4183825"/>
                </a:lnTo>
                <a:lnTo>
                  <a:pt x="81360" y="4202871"/>
                </a:lnTo>
                <a:lnTo>
                  <a:pt x="109804" y="4206608"/>
                </a:lnTo>
                <a:lnTo>
                  <a:pt x="10954804" y="4206608"/>
                </a:lnTo>
                <a:lnTo>
                  <a:pt x="10996875" y="4198250"/>
                </a:lnTo>
                <a:lnTo>
                  <a:pt x="11032377" y="4174428"/>
                </a:lnTo>
                <a:lnTo>
                  <a:pt x="11056174" y="4138875"/>
                </a:lnTo>
                <a:lnTo>
                  <a:pt x="11056250" y="4138725"/>
                </a:lnTo>
                <a:lnTo>
                  <a:pt x="11060856" y="4125291"/>
                </a:lnTo>
                <a:lnTo>
                  <a:pt x="11063667" y="4111234"/>
                </a:lnTo>
                <a:lnTo>
                  <a:pt x="11064608" y="4096804"/>
                </a:lnTo>
                <a:lnTo>
                  <a:pt x="11064585" y="109804"/>
                </a:lnTo>
                <a:lnTo>
                  <a:pt x="11056250" y="68095"/>
                </a:lnTo>
                <a:lnTo>
                  <a:pt x="11032383" y="32535"/>
                </a:lnTo>
                <a:lnTo>
                  <a:pt x="10996725" y="8721"/>
                </a:lnTo>
                <a:lnTo>
                  <a:pt x="10954804" y="368"/>
                </a:lnTo>
                <a:lnTo>
                  <a:pt x="110159" y="0"/>
                </a:lnTo>
                <a:close/>
              </a:path>
            </a:pathLst>
          </a:custGeom>
          <a:solidFill>
            <a:srgbClr val="161F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1336" y="1906460"/>
            <a:ext cx="9987915" cy="1025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four-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virtual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internship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Virtual Logistics Data Analysis Intern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10" dirty="0" err="1">
                <a:solidFill>
                  <a:srgbClr val="FFFFFF"/>
                </a:solidFill>
                <a:latin typeface="Calibri"/>
                <a:cs typeface="Calibri"/>
              </a:rPr>
              <a:t>Yuvaintern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strengthened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technical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proficiency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problem-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solving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ability,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translating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classroom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knowledge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practical,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hands-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skills.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336" y="3552380"/>
            <a:ext cx="969454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This</a:t>
            </a:r>
            <a:r>
              <a:rPr sz="1800" spc="-6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experience</a:t>
            </a:r>
            <a:r>
              <a:rPr sz="1800" spc="-6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has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laid</a:t>
            </a:r>
            <a:r>
              <a:rPr sz="1800" spc="-5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strong</a:t>
            </a:r>
            <a:r>
              <a:rPr sz="1800" spc="-6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foundation</a:t>
            </a:r>
            <a:r>
              <a:rPr sz="1800" spc="-6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future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academic</a:t>
            </a:r>
            <a:r>
              <a:rPr sz="1800" spc="-4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professional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pursuits</a:t>
            </a:r>
            <a:r>
              <a:rPr sz="1800" spc="-6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in</a:t>
            </a:r>
            <a:r>
              <a:rPr sz="1800" spc="-5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computer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science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software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development,</a:t>
            </a:r>
            <a:r>
              <a:rPr sz="1800" spc="-3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complementing</a:t>
            </a:r>
            <a:r>
              <a:rPr sz="1800" spc="-4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ongoing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55" dirty="0">
                <a:solidFill>
                  <a:srgbClr val="C9DBFB"/>
                </a:solidFill>
                <a:latin typeface="Calibri"/>
                <a:cs typeface="Calibri"/>
              </a:rPr>
              <a:t>B.Tech</a:t>
            </a:r>
            <a:r>
              <a:rPr sz="1800" spc="-4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(CSE)</a:t>
            </a:r>
            <a:r>
              <a:rPr sz="1800" spc="-4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program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at</a:t>
            </a:r>
            <a:r>
              <a:rPr sz="1800" spc="-50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9DBFB"/>
                </a:solidFill>
                <a:latin typeface="Calibri"/>
                <a:cs typeface="Calibri"/>
              </a:rPr>
              <a:t>IILM</a:t>
            </a:r>
            <a:r>
              <a:rPr sz="1800" spc="-4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University, Greater</a:t>
            </a:r>
            <a:r>
              <a:rPr sz="1800" spc="-55" dirty="0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9DBFB"/>
                </a:solidFill>
                <a:latin typeface="Calibri"/>
                <a:cs typeface="Calibri"/>
              </a:rPr>
              <a:t>Noida.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6214" y="6128537"/>
            <a:ext cx="12071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solidFill>
                  <a:srgbClr val="C8A126"/>
                </a:solidFill>
                <a:latin typeface="Times New Roman"/>
                <a:cs typeface="Times New Roman"/>
              </a:rPr>
              <a:t>Thank</a:t>
            </a:r>
            <a:r>
              <a:rPr sz="2200" i="1" spc="35" dirty="0">
                <a:solidFill>
                  <a:srgbClr val="C8A126"/>
                </a:solidFill>
                <a:latin typeface="Times New Roman"/>
                <a:cs typeface="Times New Roman"/>
              </a:rPr>
              <a:t> </a:t>
            </a:r>
            <a:r>
              <a:rPr sz="2200" i="1" spc="-60" dirty="0">
                <a:solidFill>
                  <a:srgbClr val="C8A126"/>
                </a:solidFill>
                <a:latin typeface="Times New Roman"/>
                <a:cs typeface="Times New Roman"/>
              </a:rPr>
              <a:t>You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368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Times New Roman</vt:lpstr>
      <vt:lpstr>Office Theme</vt:lpstr>
      <vt:lpstr>IILM UNIVERSITY G R E A T E R  N O I D A</vt:lpstr>
      <vt:lpstr>About the Organization</vt:lpstr>
      <vt:lpstr>Objectives of the Internship</vt:lpstr>
      <vt:lpstr>Learning Outcomes</vt:lpstr>
      <vt:lpstr>Certificate of Completion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shaili bhati</cp:lastModifiedBy>
  <cp:revision>2</cp:revision>
  <dcterms:created xsi:type="dcterms:W3CDTF">2026-08-30T16:17:40Z</dcterms:created>
  <dcterms:modified xsi:type="dcterms:W3CDTF">2026-08-30T16:38:40Z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2026-08-30T00:00:00Z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2026-08-30T00:00:00Z</vt:filetime>
  </property>
</Properties>
</file>